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457200"/>
            <a:ext cx="2926080" cy="2926080"/>
          </a:xfrm>
          <a:prstGeom prst="ellipse">
            <a:avLst/>
          </a:prstGeom>
          <a:noFill/>
          <a:ln w="20320">
            <a:solidFill>
              <a:srgbClr val="42D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1051560"/>
            <a:ext cx="2926080" cy="2926080"/>
          </a:xfrm>
          <a:prstGeom prst="ellipse">
            <a:avLst/>
          </a:prstGeom>
          <a:noFill/>
          <a:ln w="20320">
            <a:solidFill>
              <a:srgbClr val="D6F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1828800"/>
            <a:ext cx="2926080" cy="2926080"/>
          </a:xfrm>
          <a:prstGeom prst="ellipse">
            <a:avLst/>
          </a:prstGeom>
          <a:noFill/>
          <a:ln w="20320">
            <a:solidFill>
              <a:srgbClr val="FF8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1143000"/>
            <a:ext cx="146304" cy="146304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3474720"/>
            <a:ext cx="146304" cy="146304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92440" y="3931920"/>
            <a:ext cx="146304" cy="146304"/>
          </a:xfrm>
          <a:prstGeom prst="ellipse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0" y="1463040"/>
            <a:ext cx="146304" cy="146304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685800"/>
            <a:ext cx="128016" cy="384048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58368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42D6B2"/>
                </a:solidFill>
                <a:latin typeface="Aptos"/>
              </a:rPr>
              <a:t>CUSTOMER INSIGHTS  /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6766560" cy="2423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5F4EE"/>
                </a:solidFill>
                <a:latin typeface="Aptos Display"/>
              </a:rPr>
              <a:t>Customer
Shopping Behavior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87952"/>
            <a:ext cx="60350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AAB8BD"/>
                </a:solidFill>
                <a:latin typeface="Aptos"/>
              </a:rPr>
              <a:t>Uncovering insights from 3,900 purchases to guide strategic business decisions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5257800"/>
            <a:ext cx="5550408" cy="0"/>
          </a:xfrm>
          <a:prstGeom prst="line">
            <a:avLst/>
          </a:prstGeom>
          <a:ln w="1524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46811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D6F36A"/>
                </a:solidFill>
                <a:latin typeface="Aptos"/>
              </a:rPr>
              <a:t>DATA → PATTERNS →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9648" y="597103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0">
                <a:solidFill>
                  <a:srgbClr val="42D6B2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01 /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The dataset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474720" cy="64008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48840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 i="0">
                <a:solidFill>
                  <a:srgbClr val="42D6B2"/>
                </a:solidFill>
                <a:latin typeface="Aptos Display"/>
              </a:rPr>
              <a:t>3,900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4EE"/>
                </a:solidFill>
                <a:latin typeface="Aptos"/>
              </a:rPr>
              <a:t>TOTAL 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834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Comprehensive transaction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3474720" cy="64008"/>
          </a:xfrm>
          <a:prstGeom prst="rect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148840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 i="0">
                <a:solidFill>
                  <a:srgbClr val="D6F36A"/>
                </a:solidFill>
                <a:latin typeface="Aptos Display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07792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4EE"/>
                </a:solidFill>
                <a:latin typeface="Aptos"/>
              </a:rPr>
              <a:t>DATA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46120"/>
            <a:ext cx="2834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Customer demographics &amp; behavior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8288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828800"/>
            <a:ext cx="3474720" cy="64008"/>
          </a:xfrm>
          <a:prstGeom prst="rect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2148840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 i="0">
                <a:solidFill>
                  <a:srgbClr val="FF806B"/>
                </a:solidFill>
                <a:latin typeface="Aptos Display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907792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4EE"/>
                </a:solidFill>
                <a:latin typeface="Aptos"/>
              </a:rPr>
              <a:t>MISSING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46120"/>
            <a:ext cx="2834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Only in Review Rating column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62272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17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45152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WHAT THIS ENABLES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56048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5F4EE"/>
                </a:solidFill>
                <a:latin typeface="Aptos"/>
              </a:rPr>
              <a:t>A broad view of purchase behavior, customer demographics and review data — with missingness concentrated in one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02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From raw data to analysis-ready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03 / 10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828800"/>
            <a:ext cx="438912" cy="438912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4206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9264" y="2267712"/>
            <a:ext cx="0" cy="347472"/>
          </a:xfrm>
          <a:prstGeom prst="line">
            <a:avLst/>
          </a:prstGeom>
          <a:ln w="1905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08760" y="1783080"/>
            <a:ext cx="9921240" cy="621792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856231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4EE"/>
                </a:solidFill>
                <a:latin typeface="Aptos"/>
              </a:rPr>
              <a:t>Data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1"/>
            <a:ext cx="6400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Imported dataset using pandas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2660903"/>
            <a:ext cx="438912" cy="438912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679191"/>
            <a:ext cx="4206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9264" y="3099815"/>
            <a:ext cx="0" cy="347473"/>
          </a:xfrm>
          <a:prstGeom prst="line">
            <a:avLst/>
          </a:prstGeom>
          <a:ln w="1905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508760" y="2615184"/>
            <a:ext cx="9921240" cy="621792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688336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4EE"/>
                </a:solidFill>
                <a:latin typeface="Aptos"/>
              </a:rPr>
              <a:t>Initial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88336"/>
            <a:ext cx="6400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Structure check and summary statistics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493008"/>
            <a:ext cx="438912" cy="438912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511296"/>
            <a:ext cx="4206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264" y="3931920"/>
            <a:ext cx="0" cy="347472"/>
          </a:xfrm>
          <a:prstGeom prst="line">
            <a:avLst/>
          </a:prstGeom>
          <a:ln w="1905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508760" y="3447288"/>
            <a:ext cx="9921240" cy="621792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3520440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4EE"/>
                </a:solidFill>
                <a:latin typeface="Aptos"/>
              </a:rPr>
              <a:t>Missing Data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520440"/>
            <a:ext cx="6400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Imputed Review Rating with median values</a:t>
            </a:r>
          </a:p>
        </p:txBody>
      </p:sp>
      <p:sp>
        <p:nvSpPr>
          <p:cNvPr id="26" name="Oval 25"/>
          <p:cNvSpPr/>
          <p:nvPr/>
        </p:nvSpPr>
        <p:spPr>
          <a:xfrm>
            <a:off x="749808" y="4325112"/>
            <a:ext cx="438912" cy="438912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343400"/>
            <a:ext cx="4206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9264" y="4764024"/>
            <a:ext cx="0" cy="347472"/>
          </a:xfrm>
          <a:prstGeom prst="line">
            <a:avLst/>
          </a:prstGeom>
          <a:ln w="1905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508760" y="4279392"/>
            <a:ext cx="9921240" cy="621792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4352544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4EE"/>
                </a:solidFill>
                <a:latin typeface="Aptos"/>
              </a:rPr>
              <a:t>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352544"/>
            <a:ext cx="6400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Created age groups and purchase frequency</a:t>
            </a:r>
          </a:p>
        </p:txBody>
      </p:sp>
      <p:sp>
        <p:nvSpPr>
          <p:cNvPr id="32" name="Oval 31"/>
          <p:cNvSpPr/>
          <p:nvPr/>
        </p:nvSpPr>
        <p:spPr>
          <a:xfrm>
            <a:off x="749808" y="5157216"/>
            <a:ext cx="438912" cy="438912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5175504"/>
            <a:ext cx="42062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8760" y="5111496"/>
            <a:ext cx="9921240" cy="621792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83080" y="518464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4EE"/>
                </a:solidFill>
                <a:latin typeface="Aptos"/>
              </a:rPr>
              <a:t>Database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84648"/>
            <a:ext cx="6400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Connected to PostgreSQL for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5989320"/>
            <a:ext cx="2286000" cy="292608"/>
          </a:xfrm>
          <a:prstGeom prst="roundRect">
            <a:avLst>
              <a:gd name="adj" fmla="val 12000"/>
            </a:avLst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24544" y="5998464"/>
            <a:ext cx="21762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01820"/>
                </a:solidFill>
                <a:latin typeface="Aptos"/>
              </a:rPr>
              <a:t>PREPARED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03 / REVENUE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Revenue by gender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537960" cy="352044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840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AAB8BD"/>
                </a:solidFill>
                <a:latin typeface="Aptos"/>
              </a:rPr>
              <a:t>TOTAL REVENUE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5F4EE"/>
                </a:solidFill>
                <a:latin typeface="Aptos"/>
              </a:rPr>
              <a:t>Male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779776"/>
            <a:ext cx="3337560" cy="228600"/>
          </a:xfrm>
          <a:prstGeom prst="roundRect">
            <a:avLst>
              <a:gd name="adj" fmla="val 12000"/>
            </a:avLst>
          </a:prstGeom>
          <a:solidFill>
            <a:srgbClr val="3B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5F4EE"/>
                </a:solidFill>
                <a:latin typeface="Aptos"/>
              </a:rPr>
              <a:t>Female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648456"/>
            <a:ext cx="3337560" cy="228600"/>
          </a:xfrm>
          <a:prstGeom prst="roundRect">
            <a:avLst>
              <a:gd name="adj" fmla="val 12000"/>
            </a:avLst>
          </a:prstGeom>
          <a:solidFill>
            <a:srgbClr val="3B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3648456"/>
            <a:ext cx="3520440" cy="228600"/>
          </a:xfrm>
          <a:prstGeom prst="roundRect">
            <a:avLst>
              <a:gd name="adj" fmla="val 12000"/>
            </a:avLst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557016"/>
            <a:ext cx="10515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42D6B2"/>
                </a:solidFill>
                <a:latin typeface="Aptos"/>
              </a:rPr>
              <a:t>Slightly higher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AAB8BD"/>
                </a:solidFill>
                <a:latin typeface="Aptos"/>
              </a:rPr>
              <a:t>Comparison is qualitative; source slide does not provide exact revenue totals.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783080"/>
            <a:ext cx="3977639" cy="3520440"/>
          </a:xfrm>
          <a:prstGeom prst="roundRect">
            <a:avLst>
              <a:gd name="adj" fmla="val 12000"/>
            </a:avLst>
          </a:prstGeom>
          <a:solidFill>
            <a:srgbClr val="17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82127" y="2084831"/>
            <a:ext cx="1371600" cy="292608"/>
          </a:xfrm>
          <a:prstGeom prst="roundRect">
            <a:avLst>
              <a:gd name="adj" fmla="val 12000"/>
            </a:avLst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2093975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01820"/>
                </a:solidFill>
                <a:latin typeface="Aptos"/>
              </a:rPr>
              <a:t>KEY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2606040"/>
            <a:ext cx="32461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4EE"/>
                </a:solidFill>
                <a:latin typeface="Aptos Display"/>
              </a:rPr>
              <a:t>Female customers generate slightly higher total revenue than male customers.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7" y="4069080"/>
            <a:ext cx="3227833" cy="0"/>
          </a:xfrm>
          <a:prstGeom prst="line">
            <a:avLst/>
          </a:prstGeom>
          <a:ln w="1524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82127" y="427939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D6F36A"/>
                </a:solidFill>
                <a:latin typeface="Aptos"/>
              </a:rPr>
              <a:t>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572000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Gender-based marketing strategies could optimize revenue streams.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04 / CUSTOMER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Discounts can coexist with high spend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42D6B2"/>
                </a:solidFill>
                <a:latin typeface="Aptos"/>
              </a:rPr>
              <a:t>HIGH-VALUE DISCOUNT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5F4EE"/>
                </a:solidFill>
                <a:latin typeface="Aptos Display"/>
              </a:rPr>
              <a:t>Customers using discounts while spending above average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737360"/>
            <a:ext cx="5440680" cy="356616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83680" y="4572000"/>
            <a:ext cx="3977640" cy="0"/>
          </a:xfrm>
          <a:prstGeom prst="line">
            <a:avLst/>
          </a:prstGeom>
          <a:ln w="15240">
            <a:solidFill>
              <a:srgbClr val="6A7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583680" y="2423160"/>
            <a:ext cx="0" cy="2148840"/>
          </a:xfrm>
          <a:prstGeom prst="line">
            <a:avLst/>
          </a:prstGeom>
          <a:ln w="15240">
            <a:solidFill>
              <a:srgbClr val="6A7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0" y="214884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AAB8BD"/>
                </a:solidFill>
                <a:latin typeface="Aptos"/>
              </a:rPr>
              <a:t>SPENDING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4681728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DISCOUNT USE</a:t>
            </a:r>
          </a:p>
        </p:txBody>
      </p:sp>
      <p:sp>
        <p:nvSpPr>
          <p:cNvPr id="15" name="Oval 14"/>
          <p:cNvSpPr/>
          <p:nvPr/>
        </p:nvSpPr>
        <p:spPr>
          <a:xfrm>
            <a:off x="8732520" y="2788920"/>
            <a:ext cx="1143000" cy="1143000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34272" y="3090672"/>
            <a:ext cx="530352" cy="530352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069080"/>
            <a:ext cx="1828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SMART
SHOPPERS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2331720" cy="1143000"/>
          </a:xfrm>
          <a:prstGeom prst="roundRect">
            <a:avLst>
              <a:gd name="adj" fmla="val 12000"/>
            </a:avLst>
          </a:prstGeom>
          <a:solidFill>
            <a:srgbClr val="17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41071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D6F36A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75887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4EE"/>
                </a:solidFill>
                <a:latin typeface="Aptos"/>
              </a:rPr>
              <a:t>Smart Shoppers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246120"/>
            <a:ext cx="2331720" cy="1143000"/>
          </a:xfrm>
          <a:prstGeom prst="roundRect">
            <a:avLst>
              <a:gd name="adj" fmla="val 12000"/>
            </a:avLst>
          </a:prstGeom>
          <a:solidFill>
            <a:srgbClr val="17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41071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F806B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675887"/>
            <a:ext cx="18745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4EE"/>
                </a:solidFill>
                <a:latin typeface="Aptos"/>
              </a:rPr>
              <a:t>Strategic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92040"/>
            <a:ext cx="4800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AAB8BD"/>
                </a:solidFill>
                <a:latin typeface="Aptos"/>
              </a:rPr>
              <a:t>Target premium customers with exclusive offers.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05 / PRODUCT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Products customers rate highly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9144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200" b="1" i="0">
                <a:solidFill>
                  <a:srgbClr val="42D6B2"/>
                </a:solidFill>
                <a:latin typeface="Aptos Display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2606040"/>
            <a:ext cx="731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AAB8BD"/>
                </a:solidFill>
                <a:latin typeface="Aptos"/>
              </a:rPr>
              <a:t>/ 5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3401568"/>
            <a:ext cx="201168" cy="201168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98448" y="3401568"/>
            <a:ext cx="201168" cy="201168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45920" y="3401568"/>
            <a:ext cx="201168" cy="201168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93392" y="3401568"/>
            <a:ext cx="201168" cy="201168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0864" y="3401568"/>
            <a:ext cx="201168" cy="201168"/>
          </a:xfrm>
          <a:prstGeom prst="ellipse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4048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5F4EE"/>
                </a:solidFill>
                <a:latin typeface="Aptos Display"/>
              </a:rPr>
              <a:t>Blouse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159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Highest customer satisfaction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96596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267712"/>
            <a:ext cx="9144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200" b="1" i="0">
                <a:solidFill>
                  <a:srgbClr val="D6F36A"/>
                </a:solidFill>
                <a:latin typeface="Aptos Display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19" y="2606040"/>
            <a:ext cx="731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AAB8BD"/>
                </a:solidFill>
                <a:latin typeface="Aptos"/>
              </a:rPr>
              <a:t>/ 5</a:t>
            </a:r>
          </a:p>
        </p:txBody>
      </p:sp>
      <p:sp>
        <p:nvSpPr>
          <p:cNvPr id="21" name="Oval 20"/>
          <p:cNvSpPr/>
          <p:nvPr/>
        </p:nvSpPr>
        <p:spPr>
          <a:xfrm>
            <a:off x="4773168" y="3401568"/>
            <a:ext cx="201168" cy="201168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3401568"/>
            <a:ext cx="201168" cy="201168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68112" y="3401568"/>
            <a:ext cx="201168" cy="201168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15583" y="3401568"/>
            <a:ext cx="201168" cy="201168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63056" y="3401568"/>
            <a:ext cx="201168" cy="201168"/>
          </a:xfrm>
          <a:prstGeom prst="ellipse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84048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5F4EE"/>
                </a:solidFill>
                <a:latin typeface="Aptos Display"/>
              </a:rPr>
              <a:t>Dress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3159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Consistently excellent reviews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196596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7072" y="2267712"/>
            <a:ext cx="9144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4200" b="1" i="0">
                <a:solidFill>
                  <a:srgbClr val="FF806B"/>
                </a:solidFill>
                <a:latin typeface="Aptos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2606040"/>
            <a:ext cx="731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AAB8BD"/>
                </a:solidFill>
                <a:latin typeface="Aptos"/>
              </a:rPr>
              <a:t>/ 5</a:t>
            </a:r>
          </a:p>
        </p:txBody>
      </p:sp>
      <p:sp>
        <p:nvSpPr>
          <p:cNvPr id="31" name="Oval 30"/>
          <p:cNvSpPr/>
          <p:nvPr/>
        </p:nvSpPr>
        <p:spPr>
          <a:xfrm>
            <a:off x="8595360" y="3401568"/>
            <a:ext cx="201168" cy="201168"/>
          </a:xfrm>
          <a:prstGeom prst="ellipse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42832" y="3401568"/>
            <a:ext cx="201168" cy="201168"/>
          </a:xfrm>
          <a:prstGeom prst="ellipse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90304" y="3401568"/>
            <a:ext cx="201168" cy="201168"/>
          </a:xfrm>
          <a:prstGeom prst="ellipse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37776" y="3401568"/>
            <a:ext cx="201168" cy="201168"/>
          </a:xfrm>
          <a:prstGeom prst="ellipse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85248" y="3401568"/>
            <a:ext cx="201168" cy="201168"/>
          </a:xfrm>
          <a:prstGeom prst="ellipse">
            <a:avLst/>
          </a:prstGeom>
          <a:solidFill>
            <a:srgbClr val="405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7072" y="384048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5F4EE"/>
                </a:solidFill>
                <a:latin typeface="Aptos Display"/>
              </a:rPr>
              <a:t>Shirt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43159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Strong customer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62356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42D6B2"/>
                </a:solidFill>
                <a:latin typeface="Aptos"/>
              </a:rPr>
              <a:t>Use top-rated products as proof points in product storytelling and campaigns.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06 / PURCHASE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Shipping preference &amp; average spend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49240" cy="333756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349240" cy="333756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42D6B2"/>
                </a:solidFill>
                <a:latin typeface="Aptos"/>
              </a:rPr>
              <a:t>EXPRESS SHIPPING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92608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 i="0">
                <a:solidFill>
                  <a:srgbClr val="F5F4EE"/>
                </a:solidFill>
                <a:latin typeface="Aptos Display"/>
              </a:rPr>
              <a:t>$65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1188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Average purchase 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251960"/>
            <a:ext cx="4069080" cy="109728"/>
          </a:xfrm>
          <a:prstGeom prst="roundRect">
            <a:avLst>
              <a:gd name="adj" fmla="val 12000"/>
            </a:avLst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D6F36A"/>
                </a:solidFill>
                <a:latin typeface="Aptos"/>
              </a:rPr>
              <a:t>STANDARD SHIPPING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92608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 i="0">
                <a:solidFill>
                  <a:srgbClr val="F5F4EE"/>
                </a:solidFill>
                <a:latin typeface="Aptos Display"/>
              </a:rPr>
              <a:t>$58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61188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Average purchase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2" y="4251960"/>
            <a:ext cx="3630168" cy="109728"/>
          </a:xfrm>
          <a:prstGeom prst="roundRect">
            <a:avLst>
              <a:gd name="adj" fmla="val 12000"/>
            </a:avLst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5440680"/>
            <a:ext cx="8001000" cy="594360"/>
          </a:xfrm>
          <a:prstGeom prst="roundRect">
            <a:avLst>
              <a:gd name="adj" fmla="val 12000"/>
            </a:avLst>
          </a:prstGeom>
          <a:solidFill>
            <a:srgbClr val="17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5559552"/>
            <a:ext cx="7543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5F4EE"/>
                </a:solidFill>
                <a:latin typeface="Aptos"/>
              </a:rPr>
              <a:t>Express shipping customers spend 12% more per transaction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07 / SUBSCRIPTION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Subscribers are a high-value segment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212848"/>
            <a:ext cx="1280160" cy="1280160"/>
          </a:xfrm>
          <a:prstGeom prst="ellipse">
            <a:avLst/>
          </a:prstGeom>
          <a:noFill/>
          <a:ln w="50800">
            <a:solidFill>
              <a:srgbClr val="42D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542032"/>
            <a:ext cx="11704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42D6B2"/>
                </a:solidFill>
                <a:latin typeface="Aptos"/>
              </a:rPr>
              <a:t>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7947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4EE"/>
                </a:solidFill>
                <a:latin typeface="Aptos"/>
              </a:rPr>
              <a:t>HIGHER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206240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Subscribers vs non-subscribers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74519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18888" y="2212848"/>
            <a:ext cx="1280160" cy="1280160"/>
          </a:xfrm>
          <a:prstGeom prst="ellipse">
            <a:avLst/>
          </a:prstGeom>
          <a:noFill/>
          <a:ln w="50800">
            <a:solidFill>
              <a:srgbClr val="D6F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2542032"/>
            <a:ext cx="11704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6F36A"/>
                </a:solidFill>
                <a:latin typeface="Aptos"/>
              </a:rP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7947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4EE"/>
                </a:solidFill>
                <a:latin typeface="Aptos"/>
              </a:rPr>
              <a:t>REVENUE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4206240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From subscription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59368" y="2212848"/>
            <a:ext cx="1280160" cy="1280160"/>
          </a:xfrm>
          <a:prstGeom prst="ellipse">
            <a:avLst/>
          </a:prstGeom>
          <a:noFill/>
          <a:ln w="50800">
            <a:solidFill>
              <a:srgbClr val="FF8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2542032"/>
            <a:ext cx="117043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806B"/>
                </a:solidFill>
                <a:latin typeface="Aptos"/>
              </a:rPr>
              <a:t>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7947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4EE"/>
                </a:solidFill>
                <a:latin typeface="Aptos"/>
              </a:rPr>
              <a:t>LOYALTY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4206240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AB8BD"/>
                </a:solidFill>
                <a:latin typeface="Aptos"/>
              </a:rPr>
              <a:t>Repeat purchase frequency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42D6B2"/>
                </a:solidFill>
                <a:latin typeface="Aptos"/>
              </a:rPr>
              <a:t>Subscription benefits and retention programs are natural levers to explore.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08 /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Three customer groups, one conversion path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09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611630" cy="411480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43150" y="1828800"/>
            <a:ext cx="3760470" cy="411480"/>
          </a:xfrm>
          <a:prstGeom prst="rect">
            <a:avLst/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03620" y="1828800"/>
            <a:ext cx="5372100" cy="411480"/>
          </a:xfrm>
          <a:prstGeom prst="rect">
            <a:avLst/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42D6B2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834640"/>
            <a:ext cx="7772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2200" b="1" i="0">
                <a:solidFill>
                  <a:srgbClr val="42D6B2"/>
                </a:solidFill>
                <a:latin typeface="Aptos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10128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7647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High value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697480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9864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D6F36A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7772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2200" b="1" i="0">
                <a:solidFill>
                  <a:srgbClr val="D6F36A"/>
                </a:solidFill>
                <a:latin typeface="Aptos"/>
              </a:rP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10128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RETURNING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Regular shoppers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97480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89864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806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834640"/>
            <a:ext cx="7772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2200" b="1" i="0">
                <a:solidFill>
                  <a:srgbClr val="FF806B"/>
                </a:solidFill>
                <a:latin typeface="Aptos"/>
              </a:rPr>
              <a:t>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10128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7647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First-time buyers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83480"/>
            <a:ext cx="10744200" cy="777240"/>
          </a:xfrm>
          <a:prstGeom prst="roundRect">
            <a:avLst>
              <a:gd name="adj" fmla="val 12000"/>
            </a:avLst>
          </a:prstGeom>
          <a:solidFill>
            <a:srgbClr val="17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5721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THE GROWTH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084064"/>
            <a:ext cx="5669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5F4EE"/>
                </a:solidFill>
                <a:latin typeface="Aptos Display"/>
              </a:rPr>
              <a:t>Convert New → Returning → Loyal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93776"/>
            <a:ext cx="109728" cy="256032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48056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2D6B2"/>
                </a:solidFill>
                <a:latin typeface="Aptos"/>
              </a:rPr>
              <a:t>09 /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4EE"/>
                </a:solidFill>
                <a:latin typeface="Aptos Display"/>
              </a:rPr>
              <a:t>Turn customer signals into 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354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483096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AAB8BD"/>
                </a:solidFill>
                <a:latin typeface="Aptos"/>
              </a:rP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739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AAB8BD"/>
                </a:solidFill>
                <a:latin typeface="Aptos"/>
              </a:rP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391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3"/>
            <a:ext cx="46634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65960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Boost subscriptions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59152"/>
            <a:ext cx="3886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Promote exclusive benefits for subscribers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0391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D6F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066543"/>
            <a:ext cx="46634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65960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Loyalty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359152"/>
            <a:ext cx="3886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Reward repeat buyers to increase retention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6393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66744"/>
            <a:ext cx="46634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66160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Targeted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959352"/>
            <a:ext cx="3886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Focus on high-revenue segments and express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38328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20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36393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666744"/>
            <a:ext cx="466344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01820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566160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4EE"/>
                </a:solidFill>
                <a:latin typeface="Aptos"/>
              </a:rPr>
              <a:t>Product 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959352"/>
            <a:ext cx="3886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AB8BD"/>
                </a:solidFill>
                <a:latin typeface="Aptos"/>
              </a:rPr>
              <a:t>Highlight top-rated products in campaigns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49240"/>
            <a:ext cx="10927080" cy="640080"/>
          </a:xfrm>
          <a:prstGeom prst="roundRect">
            <a:avLst>
              <a:gd name="adj" fmla="val 12000"/>
            </a:avLst>
          </a:prstGeom>
          <a:solidFill>
            <a:srgbClr val="F0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0468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101820"/>
                </a:solidFill>
                <a:latin typeface="Aptos"/>
              </a:rPr>
              <a:t>PRIORITY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477256"/>
            <a:ext cx="92354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01820"/>
                </a:solidFill>
                <a:latin typeface="Aptos"/>
              </a:rPr>
              <a:t>Strengthen retention while using high-value segments and top-rated products to guide campaigns.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